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icio" id="{58e9cd2e-57b0-8828-017d-29b5e3057282}">
          <p14:sldIdLst>
            <p14:sldId id="256"/>
          </p14:sldIdLst>
        </p14:section>
        <p14:section name="Avance" id="{1456561a-9b3e-f127-f72d-e3ec0d76e516}">
          <p14:sldIdLst>
            <p14:sldId id="257"/>
            <p14:sldId id="258"/>
            <p14:sldId id="259"/>
          </p14:sldIdLst>
        </p14:section>
        <p14:section name="Solución" id="{ebe6630c-f7d5-1754-eb4e-dab3032d3854}">
          <p14:sldIdLst>
            <p14:sldId id="260"/>
            <p14:sldId id="261"/>
            <p14:sldId id="262"/>
            <p14:sldId id="263"/>
          </p14:sldIdLst>
        </p14:section>
        <p14:section name="Evidencias" id="{d497a313-3c40-4765-761f-2fa071422f1e}">
          <p14:sldIdLst>
            <p14:sldId id="264"/>
          </p14:sldIdLst>
        </p14:section>
        <p14:section name="Cierre" id="{9f2f8ebf-423e-5b4f-80be-f5756f93488b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Endpoints</c:v>
                </c:pt>
              </c:strCache>
            </c:strRef>
          </c:tx>
          <c:spPr>
            <a:solidFill>
              <a:srgbClr val="5B5E7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1C1C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Suscripción</c:v>
                  </c:pt>
                  <c:pt idx="1">
                    <c:v>Documentos e IA</c:v>
                  </c:pt>
                  <c:pt idx="2">
                    <c:v>Plataformas e integraciones</c:v>
                  </c:pt>
                  <c:pt idx="3">
                    <c:v>Operación: alertas, dashboard, reportes</c:v>
                  </c:pt>
                  <c:pt idx="4">
                    <c:v>Administración y cuentas</c:v>
                  </c:pt>
                  <c:pt idx="5">
                    <c:v>Núcleo: contratos, personal, checklist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9</c:v>
                </c:pt>
                <c:pt idx="1">
                  <c:v>16</c:v>
                </c:pt>
                <c:pt idx="2">
                  <c:v>20</c:v>
                </c:pt>
                <c:pt idx="3">
                  <c:v>26</c:v>
                </c:pt>
                <c:pt idx="4">
                  <c:v>27</c:v>
                </c:pt>
                <c:pt idx="5">
                  <c:v>63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1C1C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2A2A30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1C1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63040"/>
            <a:ext cx="786384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000" dirty="0">
                <a:solidFill>
                  <a:schemeClr val="accent3"/>
                </a:solidFill>
              </a:defRPr>
            </a:lvl1pPr>
          </a:lstStyle>
          <a:p>
            <a:pPr algn="l"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F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Oscuro">
    <p:bg>
      <p:bgPr>
        <a:solidFill>
          <a:srgbClr val="1C1C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F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F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6-1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slideLayout" Target="../slideLayouts/slideLayout4.xml"/><Relationship Id="rId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1463040"/>
            <a:ext cx="7863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Acredittia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256032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accent3"/>
                </a:solidFill>
              </a:rPr>
              <a:t>Informe de avance · Fase 2 — Desarrollo del proyecto APT</a:t>
            </a:r>
            <a:endParaRPr lang="en-US" sz="2000" dirty="0"/>
          </a:p>
        </p:txBody>
      </p:sp>
      <p:pic>
        <p:nvPicPr>
          <p:cNvPr id="4" name="motivo" descr="Motiv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63840" y="548640"/>
            <a:ext cx="640080" cy="640080"/>
          </a:xfrm>
          <a:prstGeom prst="rect">
            <a:avLst/>
          </a:prstGeom>
        </p:spPr>
      </p:pic>
      <p:pic>
        <p:nvPicPr>
          <p:cNvPr id="5" name="motivo" descr="Motivo decorativo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640080"/>
            <a:ext cx="320040" cy="32004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40080" y="384048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Integrantes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3"/>
                </a:solidFill>
              </a:rPr>
              <a:t>Eduardo Agüero · Diego Santiagos · David Gana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Capstone APT122 · Duoc UC ·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El backend ya cubre el núcleo de la plataforma</a:t>
            </a:r>
            <a:endParaRPr lang="en-US" sz="3000" dirty="0"/>
          </a:p>
        </p:txBody>
      </p:sp>
      <p:pic>
        <p:nvPicPr>
          <p:cNvPr id="3" name="motivo" descr="Motiv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384048"/>
            <a:ext cx="411480" cy="411480"/>
          </a:xfrm>
          <a:prstGeom prst="rect">
            <a:avLst/>
          </a:prstGeom>
        </p:spPr>
      </p:pic>
      <p:sp>
        <p:nvSpPr>
          <p:cNvPr id="4" name="cifra-0"/>
          <p:cNvSpPr/>
          <p:nvPr/>
        </p:nvSpPr>
        <p:spPr>
          <a:xfrm>
            <a:off x="457200" y="132588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1C1C1F"/>
          </a:solidFill>
          <a:ln/>
        </p:spPr>
      </p:sp>
      <p:sp>
        <p:nvSpPr>
          <p:cNvPr id="5" name="Text 2"/>
          <p:cNvSpPr txBox="1"/>
          <p:nvPr/>
        </p:nvSpPr>
        <p:spPr>
          <a:xfrm>
            <a:off x="640080" y="15087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161</a:t>
            </a:r>
            <a:endParaRPr lang="en-US" sz="5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endpoints REST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8346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en 24 módulos bajo /api/v1</a:t>
            </a:r>
            <a:endParaRPr lang="en-US" sz="1200" dirty="0"/>
          </a:p>
        </p:txBody>
      </p:sp>
      <p:sp>
        <p:nvSpPr>
          <p:cNvPr id="8" name="cifra-1"/>
          <p:cNvSpPr/>
          <p:nvPr/>
        </p:nvSpPr>
        <p:spPr>
          <a:xfrm>
            <a:off x="2560320" y="132588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EEEEF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2743200" y="15087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37</a:t>
            </a:r>
            <a:endParaRPr lang="en-US" sz="5400" dirty="0"/>
          </a:p>
        </p:txBody>
      </p:sp>
      <p:sp>
        <p:nvSpPr>
          <p:cNvPr id="10" name="Text 7"/>
          <p:cNvSpPr txBox="1"/>
          <p:nvPr/>
        </p:nvSpPr>
        <p:spPr>
          <a:xfrm>
            <a:off x="2743200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tablas</a:t>
            </a:r>
            <a:endParaRPr lang="en-US" sz="1600" dirty="0"/>
          </a:p>
        </p:txBody>
      </p:sp>
      <p:sp>
        <p:nvSpPr>
          <p:cNvPr id="11" name="Text 8"/>
          <p:cNvSpPr txBox="1"/>
          <p:nvPr/>
        </p:nvSpPr>
        <p:spPr>
          <a:xfrm>
            <a:off x="2743200" y="28346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PostgreSQL 16 con RLS</a:t>
            </a:r>
            <a:endParaRPr lang="en-US" sz="1200" dirty="0"/>
          </a:p>
        </p:txBody>
      </p:sp>
      <p:sp>
        <p:nvSpPr>
          <p:cNvPr id="12" name="cifra-2"/>
          <p:cNvSpPr/>
          <p:nvPr/>
        </p:nvSpPr>
        <p:spPr>
          <a:xfrm>
            <a:off x="4663440" y="132588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EEEEF2"/>
          </a:solidFill>
          <a:ln/>
        </p:spPr>
      </p:sp>
      <p:sp>
        <p:nvSpPr>
          <p:cNvPr id="13" name="Text 10"/>
          <p:cNvSpPr txBox="1"/>
          <p:nvPr/>
        </p:nvSpPr>
        <p:spPr>
          <a:xfrm>
            <a:off x="4846320" y="15087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206</a:t>
            </a:r>
            <a:endParaRPr lang="en-US" sz="5400" dirty="0"/>
          </a:p>
        </p:txBody>
      </p:sp>
      <p:sp>
        <p:nvSpPr>
          <p:cNvPr id="14" name="Text 11"/>
          <p:cNvSpPr txBox="1"/>
          <p:nvPr/>
        </p:nvSpPr>
        <p:spPr>
          <a:xfrm>
            <a:off x="4846320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pruebas</a:t>
            </a:r>
            <a:endParaRPr lang="en-US" sz="1600" dirty="0"/>
          </a:p>
        </p:txBody>
      </p:sp>
      <p:sp>
        <p:nvSpPr>
          <p:cNvPr id="15" name="Text 12"/>
          <p:cNvSpPr txBox="1"/>
          <p:nvPr/>
        </p:nvSpPr>
        <p:spPr>
          <a:xfrm>
            <a:off x="4846320" y="28346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pytest contra PostgreSQL real</a:t>
            </a:r>
            <a:endParaRPr lang="en-US" sz="1200" dirty="0"/>
          </a:p>
        </p:txBody>
      </p:sp>
      <p:sp>
        <p:nvSpPr>
          <p:cNvPr id="16" name="cifra-3"/>
          <p:cNvSpPr/>
          <p:nvPr/>
        </p:nvSpPr>
        <p:spPr>
          <a:xfrm>
            <a:off x="6766560" y="1325880"/>
            <a:ext cx="1874520" cy="2377440"/>
          </a:xfrm>
          <a:prstGeom prst="roundRect">
            <a:avLst>
              <a:gd name="adj" fmla="val 5854"/>
            </a:avLst>
          </a:prstGeom>
          <a:solidFill>
            <a:srgbClr val="EEEEF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949440" y="1508760"/>
            <a:ext cx="1508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chemeClr val="tx1"/>
                </a:solidFill>
              </a:rPr>
              <a:t>2</a:t>
            </a:r>
            <a:endParaRPr lang="en-US" sz="5400" dirty="0"/>
          </a:p>
        </p:txBody>
      </p:sp>
      <p:sp>
        <p:nvSpPr>
          <p:cNvPr id="18" name="Text 15"/>
          <p:cNvSpPr txBox="1"/>
          <p:nvPr/>
        </p:nvSpPr>
        <p:spPr>
          <a:xfrm>
            <a:off x="6949440" y="2468880"/>
            <a:ext cx="1508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despliegues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949440" y="28346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API y frontend en la nube</a:t>
            </a:r>
            <a:endParaRPr lang="en-US" sz="1200" dirty="0"/>
          </a:p>
        </p:txBody>
      </p:sp>
      <p:sp>
        <p:nvSpPr>
          <p:cNvPr id="20" name="Text 17"/>
          <p:cNvSpPr txBox="1"/>
          <p:nvPr/>
        </p:nvSpPr>
        <p:spPr>
          <a:xfrm>
            <a:off x="457200" y="406908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chemeClr val="accent1"/>
                </a:solidFill>
              </a:rPr>
              <a:t>Fuente: repositorio Backend_Acredita (routers, models.py y tests) al cierre de la Fase 2.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F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Cada dificultad tuvo un ajuste concreto</a:t>
            </a:r>
            <a:endParaRPr lang="en-US" sz="3000" dirty="0"/>
          </a:p>
        </p:txBody>
      </p:sp>
      <p:pic>
        <p:nvPicPr>
          <p:cNvPr id="3" name="motivo" descr="Motiv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384048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09728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Dificultad</a:t>
            </a:r>
            <a:endParaRPr lang="en-US" sz="1200" dirty="0"/>
          </a:p>
        </p:txBody>
      </p:sp>
      <p:sp>
        <p:nvSpPr>
          <p:cNvPr id="5" name="Text 2"/>
          <p:cNvSpPr txBox="1"/>
          <p:nvPr/>
        </p:nvSpPr>
        <p:spPr>
          <a:xfrm>
            <a:off x="4480560" y="10972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1"/>
                </a:solidFill>
              </a:rPr>
              <a:t>Ajuste</a:t>
            </a:r>
            <a:endParaRPr lang="en-US" sz="1200" dirty="0"/>
          </a:p>
        </p:txBody>
      </p:sp>
      <p:sp>
        <p:nvSpPr>
          <p:cNvPr id="6" name="dif-0"/>
          <p:cNvSpPr/>
          <p:nvPr/>
        </p:nvSpPr>
        <p:spPr>
          <a:xfrm>
            <a:off x="457200" y="146304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EEEEF2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594360" y="146304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Alcance de IA, multi-tenant y JWE difícil de dimensionar</a:t>
            </a:r>
            <a:endParaRPr lang="en-US" sz="1300" dirty="0"/>
          </a:p>
        </p:txBody>
      </p:sp>
      <p:sp>
        <p:nvSpPr>
          <p:cNvPr id="8" name="flecha-0"/>
          <p:cNvSpPr/>
          <p:nvPr/>
        </p:nvSpPr>
        <p:spPr>
          <a:xfrm>
            <a:off x="4096512" y="1682496"/>
            <a:ext cx="310896" cy="219456"/>
          </a:xfrm>
          <a:prstGeom prst="rightArrow">
            <a:avLst/>
          </a:prstGeom>
          <a:solidFill>
            <a:srgbClr val="8C8FA6"/>
          </a:solidFill>
          <a:ln/>
        </p:spPr>
      </p:sp>
      <p:sp>
        <p:nvSpPr>
          <p:cNvPr id="9" name="ajuste-0"/>
          <p:cNvSpPr/>
          <p:nvPr/>
        </p:nvSpPr>
        <p:spPr>
          <a:xfrm>
            <a:off x="4480560" y="146304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1C1C1F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4617720" y="146304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Priorización MoSCoW: primero el motor de acreditación; integraciones con el mandante al siguiente incremento</a:t>
            </a:r>
            <a:endParaRPr lang="en-US" sz="1300" dirty="0"/>
          </a:p>
        </p:txBody>
      </p:sp>
      <p:sp>
        <p:nvSpPr>
          <p:cNvPr id="11" name="dif-1"/>
          <p:cNvSpPr/>
          <p:nvPr/>
        </p:nvSpPr>
        <p:spPr>
          <a:xfrm>
            <a:off x="457200" y="224028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EEEEF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594360" y="224028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Workers asíncronos (Celery/Redis) no corren en serverless</a:t>
            </a:r>
            <a:endParaRPr lang="en-US" sz="1300" dirty="0"/>
          </a:p>
        </p:txBody>
      </p:sp>
      <p:sp>
        <p:nvSpPr>
          <p:cNvPr id="13" name="flecha-1"/>
          <p:cNvSpPr/>
          <p:nvPr/>
        </p:nvSpPr>
        <p:spPr>
          <a:xfrm>
            <a:off x="4096512" y="2459736"/>
            <a:ext cx="310896" cy="219456"/>
          </a:xfrm>
          <a:prstGeom prst="rightArrow">
            <a:avLst/>
          </a:prstGeom>
          <a:solidFill>
            <a:srgbClr val="8C8FA6"/>
          </a:solidFill>
          <a:ln/>
        </p:spPr>
      </p:sp>
      <p:sp>
        <p:nvSpPr>
          <p:cNvPr id="14" name="ajuste-1"/>
          <p:cNvSpPr/>
          <p:nvPr/>
        </p:nvSpPr>
        <p:spPr>
          <a:xfrm>
            <a:off x="4480560" y="224028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1C1C1F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4617720" y="224028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Backend en contenedores Docker: una imagen para API, worker, beat y job de migración</a:t>
            </a:r>
            <a:endParaRPr lang="en-US" sz="1300" dirty="0"/>
          </a:p>
        </p:txBody>
      </p:sp>
      <p:sp>
        <p:nvSpPr>
          <p:cNvPr id="16" name="dif-2"/>
          <p:cNvSpPr/>
          <p:nvPr/>
        </p:nvSpPr>
        <p:spPr>
          <a:xfrm>
            <a:off x="457200" y="301752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EEEEF2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594360" y="301752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Aislamiento entre empresas difícil de garantizar solo en la API</a:t>
            </a:r>
            <a:endParaRPr lang="en-US" sz="1300" dirty="0"/>
          </a:p>
        </p:txBody>
      </p:sp>
      <p:sp>
        <p:nvSpPr>
          <p:cNvPr id="18" name="flecha-2"/>
          <p:cNvSpPr/>
          <p:nvPr/>
        </p:nvSpPr>
        <p:spPr>
          <a:xfrm>
            <a:off x="4096512" y="3236976"/>
            <a:ext cx="310896" cy="219456"/>
          </a:xfrm>
          <a:prstGeom prst="rightArrow">
            <a:avLst/>
          </a:prstGeom>
          <a:solidFill>
            <a:srgbClr val="8C8FA6"/>
          </a:solidFill>
          <a:ln/>
        </p:spPr>
      </p:sp>
      <p:sp>
        <p:nvSpPr>
          <p:cNvPr id="19" name="ajuste-2"/>
          <p:cNvSpPr/>
          <p:nvPr/>
        </p:nvSpPr>
        <p:spPr>
          <a:xfrm>
            <a:off x="4480560" y="301752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1C1C1F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617720" y="301752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RLS en el motor con un rol sin BYPASSRLS y pruebas contra PostgreSQL real</a:t>
            </a:r>
            <a:endParaRPr lang="en-US" sz="1300" dirty="0"/>
          </a:p>
        </p:txBody>
      </p:sp>
      <p:sp>
        <p:nvSpPr>
          <p:cNvPr id="21" name="dif-3"/>
          <p:cNvSpPr/>
          <p:nvPr/>
        </p:nvSpPr>
        <p:spPr>
          <a:xfrm>
            <a:off x="457200" y="3794760"/>
            <a:ext cx="3566160" cy="658368"/>
          </a:xfrm>
          <a:prstGeom prst="roundRect">
            <a:avLst>
              <a:gd name="adj" fmla="val 11111"/>
            </a:avLst>
          </a:prstGeom>
          <a:solidFill>
            <a:srgbClr val="EEEEF2"/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594360" y="3794760"/>
            <a:ext cx="33375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Plan pensado para 4 roles con un equipo de 3, en paralelo a la práctica</a:t>
            </a:r>
            <a:endParaRPr lang="en-US" sz="1300" dirty="0"/>
          </a:p>
        </p:txBody>
      </p:sp>
      <p:sp>
        <p:nvSpPr>
          <p:cNvPr id="23" name="flecha-3"/>
          <p:cNvSpPr/>
          <p:nvPr/>
        </p:nvSpPr>
        <p:spPr>
          <a:xfrm>
            <a:off x="4096512" y="4014216"/>
            <a:ext cx="310896" cy="219456"/>
          </a:xfrm>
          <a:prstGeom prst="rightArrow">
            <a:avLst/>
          </a:prstGeom>
          <a:solidFill>
            <a:srgbClr val="8C8FA6"/>
          </a:solidFill>
          <a:ln/>
        </p:spPr>
      </p:sp>
      <p:sp>
        <p:nvSpPr>
          <p:cNvPr id="24" name="ajuste-3"/>
          <p:cNvSpPr/>
          <p:nvPr/>
        </p:nvSpPr>
        <p:spPr>
          <a:xfrm>
            <a:off x="4480560" y="3794760"/>
            <a:ext cx="4206240" cy="658368"/>
          </a:xfrm>
          <a:prstGeom prst="roundRect">
            <a:avLst>
              <a:gd name="adj" fmla="val 11111"/>
            </a:avLst>
          </a:prstGeom>
          <a:solidFill>
            <a:srgbClr val="1C1C1F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617720" y="3794760"/>
            <a:ext cx="3977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Roles redistribuidos y trabajo coordinado con Jira y Pull Requests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F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Desarrollo incremental en sprints de 2 semanas</a:t>
            </a:r>
            <a:endParaRPr lang="en-US" sz="3000" dirty="0"/>
          </a:p>
        </p:txBody>
      </p:sp>
      <p:pic>
        <p:nvPicPr>
          <p:cNvPr id="3" name="motivo" descr="Motiv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384048"/>
            <a:ext cx="411480" cy="411480"/>
          </a:xfrm>
          <a:prstGeom prst="rect">
            <a:avLst/>
          </a:prstGeom>
        </p:spPr>
      </p:pic>
      <p:sp>
        <p:nvSpPr>
          <p:cNvPr id="4" name="linea-tiempo"/>
          <p:cNvSpPr/>
          <p:nvPr/>
        </p:nvSpPr>
        <p:spPr>
          <a:xfrm>
            <a:off x="685800" y="1600200"/>
            <a:ext cx="7772400" cy="0"/>
          </a:xfrm>
          <a:prstGeom prst="line">
            <a:avLst/>
          </a:prstGeom>
          <a:noFill/>
          <a:ln w="25400">
            <a:solidFill>
              <a:srgbClr val="C9CBD8"/>
            </a:solidFill>
            <a:prstDash val="solid"/>
          </a:ln>
        </p:spPr>
      </p:sp>
      <p:sp>
        <p:nvSpPr>
          <p:cNvPr id="5" name="hito-0"/>
          <p:cNvSpPr/>
          <p:nvPr/>
        </p:nvSpPr>
        <p:spPr>
          <a:xfrm>
            <a:off x="548640" y="1417320"/>
            <a:ext cx="365760" cy="365760"/>
          </a:xfrm>
          <a:prstGeom prst="ellipse">
            <a:avLst/>
          </a:prstGeom>
          <a:solidFill>
            <a:srgbClr val="1C1C1F"/>
          </a:solidFill>
          <a:ln w="25400">
            <a:solidFill>
              <a:srgbClr val="1C1C1F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54864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Incremento 1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240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Infraestructura y autenticación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83464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JWT, roles, aprobación de empresas, CI/CD</a:t>
            </a:r>
            <a:endParaRPr lang="en-US" sz="1200" dirty="0"/>
          </a:p>
        </p:txBody>
      </p:sp>
      <p:sp>
        <p:nvSpPr>
          <p:cNvPr id="10" name="estado-0"/>
          <p:cNvSpPr/>
          <p:nvPr/>
        </p:nvSpPr>
        <p:spPr>
          <a:xfrm>
            <a:off x="457200" y="393192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7FB5A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457200" y="393192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Implementado</a:t>
            </a:r>
            <a:endParaRPr lang="en-US" sz="1200" dirty="0"/>
          </a:p>
        </p:txBody>
      </p:sp>
      <p:sp>
        <p:nvSpPr>
          <p:cNvPr id="12" name="hito-1"/>
          <p:cNvSpPr/>
          <p:nvPr/>
        </p:nvSpPr>
        <p:spPr>
          <a:xfrm>
            <a:off x="2651760" y="1417320"/>
            <a:ext cx="365760" cy="365760"/>
          </a:xfrm>
          <a:prstGeom prst="ellipse">
            <a:avLst/>
          </a:prstGeom>
          <a:solidFill>
            <a:srgbClr val="1C1C1F"/>
          </a:solidFill>
          <a:ln w="25400">
            <a:solidFill>
              <a:srgbClr val="1C1C1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265176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256032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Incremento 2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560320" y="2240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Núcleo de negocio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2560320" y="283464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Faenas, contratos, cargos, checklists, personal y equipos</a:t>
            </a:r>
            <a:endParaRPr lang="en-US" sz="1200" dirty="0"/>
          </a:p>
        </p:txBody>
      </p:sp>
      <p:sp>
        <p:nvSpPr>
          <p:cNvPr id="17" name="estado-1"/>
          <p:cNvSpPr/>
          <p:nvPr/>
        </p:nvSpPr>
        <p:spPr>
          <a:xfrm>
            <a:off x="2560320" y="393192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7FB5A1"/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2560320" y="393192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Implementado</a:t>
            </a:r>
            <a:endParaRPr lang="en-US" sz="1200" dirty="0"/>
          </a:p>
        </p:txBody>
      </p:sp>
      <p:sp>
        <p:nvSpPr>
          <p:cNvPr id="19" name="hito-2"/>
          <p:cNvSpPr/>
          <p:nvPr/>
        </p:nvSpPr>
        <p:spPr>
          <a:xfrm>
            <a:off x="4754880" y="1417320"/>
            <a:ext cx="365760" cy="365760"/>
          </a:xfrm>
          <a:prstGeom prst="ellipse">
            <a:avLst/>
          </a:prstGeom>
          <a:solidFill>
            <a:srgbClr val="1C1C1F"/>
          </a:solidFill>
          <a:ln w="25400">
            <a:solidFill>
              <a:srgbClr val="1C1C1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75488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66344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Incremento 3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4663440" y="2240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Ciclo documental e IA</a:t>
            </a:r>
            <a:endParaRPr lang="en-US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4663440" y="283464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Carga a Blob Storage, revisión IA, vencimientos y alertas</a:t>
            </a:r>
            <a:endParaRPr lang="en-US" sz="1200" dirty="0"/>
          </a:p>
        </p:txBody>
      </p:sp>
      <p:sp>
        <p:nvSpPr>
          <p:cNvPr id="24" name="estado-2"/>
          <p:cNvSpPr/>
          <p:nvPr/>
        </p:nvSpPr>
        <p:spPr>
          <a:xfrm>
            <a:off x="4663440" y="393192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7FB5A1"/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663440" y="393192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Implementado</a:t>
            </a:r>
            <a:endParaRPr lang="en-US" sz="1200" dirty="0"/>
          </a:p>
        </p:txBody>
      </p:sp>
      <p:sp>
        <p:nvSpPr>
          <p:cNvPr id="26" name="hito-3"/>
          <p:cNvSpPr/>
          <p:nvPr/>
        </p:nvSpPr>
        <p:spPr>
          <a:xfrm>
            <a:off x="6858000" y="1417320"/>
            <a:ext cx="365760" cy="365760"/>
          </a:xfrm>
          <a:prstGeom prst="ellipse">
            <a:avLst/>
          </a:prstGeom>
          <a:solidFill>
            <a:srgbClr val="FFFFFF"/>
          </a:solidFill>
          <a:ln w="25400">
            <a:solidFill>
              <a:srgbClr val="1C1C1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858000" y="14173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4</a:t>
            </a:r>
            <a:endParaRPr lang="en-US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6766560" y="19659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accent1"/>
                </a:solidFill>
              </a:rPr>
              <a:t>Incremento 4</a:t>
            </a:r>
            <a:endParaRPr lang="en-US" sz="1200" dirty="0"/>
          </a:p>
        </p:txBody>
      </p:sp>
      <p:sp>
        <p:nvSpPr>
          <p:cNvPr id="29" name="Text 26"/>
          <p:cNvSpPr txBox="1"/>
          <p:nvPr/>
        </p:nvSpPr>
        <p:spPr>
          <a:xfrm>
            <a:off x="6766560" y="22402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Reportería y operación</a:t>
            </a:r>
            <a:endParaRPr lang="en-US" sz="1600" dirty="0"/>
          </a:p>
        </p:txBody>
      </p:sp>
      <p:sp>
        <p:nvSpPr>
          <p:cNvPr id="30" name="Text 27"/>
          <p:cNvSpPr txBox="1"/>
          <p:nvPr/>
        </p:nvSpPr>
        <p:spPr>
          <a:xfrm>
            <a:off x="6766560" y="2834640"/>
            <a:ext cx="19202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Reportes, calendario y dashboard listos; integraciones, correo y cobro pendientes</a:t>
            </a:r>
            <a:endParaRPr lang="en-US" sz="1200" dirty="0"/>
          </a:p>
        </p:txBody>
      </p:sp>
      <p:sp>
        <p:nvSpPr>
          <p:cNvPr id="31" name="estado-3"/>
          <p:cNvSpPr/>
          <p:nvPr/>
        </p:nvSpPr>
        <p:spPr>
          <a:xfrm>
            <a:off x="6766560" y="3931920"/>
            <a:ext cx="1325880" cy="329184"/>
          </a:xfrm>
          <a:prstGeom prst="roundRect">
            <a:avLst>
              <a:gd name="adj" fmla="val 50000"/>
            </a:avLst>
          </a:prstGeom>
          <a:solidFill>
            <a:srgbClr val="D9A15B"/>
          </a:solidFill>
          <a:ln/>
        </p:spPr>
      </p:sp>
      <p:sp>
        <p:nvSpPr>
          <p:cNvPr id="32" name="Text 29"/>
          <p:cNvSpPr txBox="1"/>
          <p:nvPr/>
        </p:nvSpPr>
        <p:spPr>
          <a:xfrm>
            <a:off x="6766560" y="393192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En curso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F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Arquitectura con datos aislados por empresa</a:t>
            </a:r>
            <a:endParaRPr lang="en-US" sz="3000" dirty="0"/>
          </a:p>
        </p:txBody>
      </p:sp>
      <p:pic>
        <p:nvPicPr>
          <p:cNvPr id="3" name="motivo" descr="Motiv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384048"/>
            <a:ext cx="411480" cy="411480"/>
          </a:xfrm>
          <a:prstGeom prst="rect">
            <a:avLst/>
          </a:prstGeom>
        </p:spPr>
      </p:pic>
      <p:sp>
        <p:nvSpPr>
          <p:cNvPr id="4" name="a-front"/>
          <p:cNvSpPr/>
          <p:nvPr/>
        </p:nvSpPr>
        <p:spPr>
          <a:xfrm>
            <a:off x="457200" y="21031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3A3B47"/>
          </a:solidFill>
          <a:ln w="12700">
            <a:solidFill>
              <a:srgbClr val="8C8FA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21031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Frontend web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Next.js 14 · React</a:t>
            </a:r>
            <a:endParaRPr lang="en-US" sz="1400" dirty="0"/>
          </a:p>
        </p:txBody>
      </p:sp>
      <p:sp>
        <p:nvSpPr>
          <p:cNvPr id="6" name="a-api"/>
          <p:cNvSpPr/>
          <p:nvPr/>
        </p:nvSpPr>
        <p:spPr>
          <a:xfrm>
            <a:off x="2743200" y="21031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5B5E73"/>
          </a:solidFill>
          <a:ln w="12700">
            <a:solidFill>
              <a:srgbClr val="8C8FA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2834640" y="21031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API REST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FastAPI · 161 endpoints</a:t>
            </a:r>
            <a:endParaRPr lang="en-US" sz="1400" dirty="0"/>
          </a:p>
        </p:txBody>
      </p:sp>
      <p:sp>
        <p:nvSpPr>
          <p:cNvPr id="8" name="a-db"/>
          <p:cNvSpPr/>
          <p:nvPr/>
        </p:nvSpPr>
        <p:spPr>
          <a:xfrm>
            <a:off x="5120640" y="11887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3A3B47"/>
          </a:solidFill>
          <a:ln w="12700">
            <a:solidFill>
              <a:srgbClr val="8C8FA6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5212080" y="11887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PostgreSQL 16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37 tablas · RLS</a:t>
            </a:r>
            <a:endParaRPr lang="en-US" sz="1400" dirty="0"/>
          </a:p>
        </p:txBody>
      </p:sp>
      <p:sp>
        <p:nvSpPr>
          <p:cNvPr id="10" name="a-redis"/>
          <p:cNvSpPr/>
          <p:nvPr/>
        </p:nvSpPr>
        <p:spPr>
          <a:xfrm>
            <a:off x="5120640" y="3017520"/>
            <a:ext cx="1737360" cy="914400"/>
          </a:xfrm>
          <a:prstGeom prst="roundRect">
            <a:avLst>
              <a:gd name="adj" fmla="val 8000"/>
            </a:avLst>
          </a:prstGeom>
          <a:solidFill>
            <a:srgbClr val="3A3B47"/>
          </a:solidFill>
          <a:ln w="12700">
            <a:solidFill>
              <a:srgbClr val="8C8FA6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212080" y="3017520"/>
            <a:ext cx="1554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Redis + Celery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worker y beat</a:t>
            </a:r>
            <a:endParaRPr lang="en-US" sz="1400" dirty="0"/>
          </a:p>
        </p:txBody>
      </p:sp>
      <p:sp>
        <p:nvSpPr>
          <p:cNvPr id="12" name="a-blob"/>
          <p:cNvSpPr/>
          <p:nvPr/>
        </p:nvSpPr>
        <p:spPr>
          <a:xfrm>
            <a:off x="7315200" y="118872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3A3B47"/>
          </a:solidFill>
          <a:ln w="12700">
            <a:solidFill>
              <a:srgbClr val="8C8FA6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06640" y="11887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Blob Storage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SAS URLs</a:t>
            </a:r>
            <a:endParaRPr lang="en-US" sz="1400" dirty="0"/>
          </a:p>
        </p:txBody>
      </p:sp>
      <p:sp>
        <p:nvSpPr>
          <p:cNvPr id="14" name="a-kv"/>
          <p:cNvSpPr/>
          <p:nvPr/>
        </p:nvSpPr>
        <p:spPr>
          <a:xfrm>
            <a:off x="7315200" y="3017520"/>
            <a:ext cx="1463040" cy="914400"/>
          </a:xfrm>
          <a:prstGeom prst="roundRect">
            <a:avLst>
              <a:gd name="adj" fmla="val 8000"/>
            </a:avLst>
          </a:prstGeom>
          <a:solidFill>
            <a:srgbClr val="3A3B47"/>
          </a:solidFill>
          <a:ln w="12700">
            <a:solidFill>
              <a:srgbClr val="8C8FA6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406640" y="3017520"/>
            <a:ext cx="12801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Key Vault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claves JWE</a:t>
            </a:r>
            <a:endParaRPr lang="en-US" sz="1400" dirty="0"/>
          </a:p>
        </p:txBody>
      </p:sp>
      <p:sp>
        <p:nvSpPr>
          <p:cNvPr id="16" name="f-front-api"/>
          <p:cNvSpPr/>
          <p:nvPr/>
        </p:nvSpPr>
        <p:spPr>
          <a:xfrm>
            <a:off x="2194560" y="2560320"/>
            <a:ext cx="548640" cy="0"/>
          </a:xfrm>
          <a:prstGeom prst="line">
            <a:avLst/>
          </a:prstGeom>
          <a:noFill/>
          <a:ln w="19050">
            <a:solidFill>
              <a:srgbClr val="C9CBD8"/>
            </a:solidFill>
            <a:prstDash val="solid"/>
            <a:tailEnd type="triangle"/>
          </a:ln>
        </p:spPr>
      </p:sp>
      <p:sp>
        <p:nvSpPr>
          <p:cNvPr id="17" name="f-api-db"/>
          <p:cNvSpPr/>
          <p:nvPr/>
        </p:nvSpPr>
        <p:spPr>
          <a:xfrm flipV="1">
            <a:off x="4480560" y="1645920"/>
            <a:ext cx="640080" cy="822960"/>
          </a:xfrm>
          <a:prstGeom prst="line">
            <a:avLst/>
          </a:prstGeom>
          <a:noFill/>
          <a:ln w="19050">
            <a:solidFill>
              <a:srgbClr val="C9CBD8"/>
            </a:solidFill>
            <a:prstDash val="solid"/>
            <a:tailEnd type="triangle"/>
          </a:ln>
        </p:spPr>
      </p:sp>
      <p:sp>
        <p:nvSpPr>
          <p:cNvPr id="18" name="f-api-redis"/>
          <p:cNvSpPr/>
          <p:nvPr/>
        </p:nvSpPr>
        <p:spPr>
          <a:xfrm>
            <a:off x="4480560" y="2651760"/>
            <a:ext cx="640080" cy="822960"/>
          </a:xfrm>
          <a:prstGeom prst="line">
            <a:avLst/>
          </a:prstGeom>
          <a:noFill/>
          <a:ln w="19050">
            <a:solidFill>
              <a:srgbClr val="C9CBD8"/>
            </a:solidFill>
            <a:prstDash val="solid"/>
            <a:tailEnd type="triangle"/>
          </a:ln>
        </p:spPr>
      </p:sp>
      <p:sp>
        <p:nvSpPr>
          <p:cNvPr id="19" name="f-db-blob"/>
          <p:cNvSpPr/>
          <p:nvPr/>
        </p:nvSpPr>
        <p:spPr>
          <a:xfrm>
            <a:off x="6858000" y="1645920"/>
            <a:ext cx="457200" cy="0"/>
          </a:xfrm>
          <a:prstGeom prst="line">
            <a:avLst/>
          </a:prstGeom>
          <a:noFill/>
          <a:ln w="19050">
            <a:solidFill>
              <a:srgbClr val="C9CBD8"/>
            </a:solidFill>
            <a:prstDash val="solid"/>
            <a:tailEnd type="triangle"/>
          </a:ln>
        </p:spPr>
      </p:sp>
      <p:sp>
        <p:nvSpPr>
          <p:cNvPr id="20" name="f-redis-kv"/>
          <p:cNvSpPr/>
          <p:nvPr/>
        </p:nvSpPr>
        <p:spPr>
          <a:xfrm>
            <a:off x="6858000" y="3474720"/>
            <a:ext cx="457200" cy="0"/>
          </a:xfrm>
          <a:prstGeom prst="line">
            <a:avLst/>
          </a:prstGeom>
          <a:noFill/>
          <a:ln w="19050">
            <a:solidFill>
              <a:srgbClr val="C9CBD8"/>
            </a:solidFill>
            <a:prstDash val="solid"/>
            <a:tailEnd type="triangle"/>
          </a:ln>
        </p:spPr>
      </p:sp>
      <p:sp>
        <p:nvSpPr>
          <p:cNvPr id="21" name="Text 18"/>
          <p:cNvSpPr txBox="1"/>
          <p:nvPr/>
        </p:nvSpPr>
        <p:spPr>
          <a:xfrm>
            <a:off x="457200" y="41605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Workers: revisión IA de documentos, reportes PDF/Excel y cron diario de vencimientos y alertas. Despliegue con una sola imagen Docker (Azure Container Apps).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F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161 endpoints, la mayoría en el núcleo</a:t>
            </a:r>
            <a:endParaRPr lang="en-US" sz="3000" dirty="0"/>
          </a:p>
        </p:txBody>
      </p:sp>
      <p:pic>
        <p:nvPicPr>
          <p:cNvPr id="3" name="motivo" descr="Motiv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384048"/>
            <a:ext cx="411480" cy="411480"/>
          </a:xfrm>
          <a:prstGeom prst="rect">
            <a:avLst/>
          </a:prstGeom>
        </p:spPr>
      </p:pic>
      <p:graphicFrame>
        <p:nvGraphicFramePr>
          <p:cNvPr id="4" name="grafico-endpoints" descr="Endpoints por dominio funcional"/>
          <p:cNvGraphicFramePr/>
          <p:nvPr/>
        </p:nvGraphicFramePr>
        <p:xfrm>
          <a:off x="457200" y="1097280"/>
          <a:ext cx="54864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nota-api"/>
          <p:cNvSpPr/>
          <p:nvPr/>
        </p:nvSpPr>
        <p:spPr>
          <a:xfrm>
            <a:off x="6217920" y="1188720"/>
            <a:ext cx="2468880" cy="3291840"/>
          </a:xfrm>
          <a:prstGeom prst="roundRect">
            <a:avLst>
              <a:gd name="adj" fmla="val 3704"/>
            </a:avLst>
          </a:prstGeom>
          <a:solidFill>
            <a:srgbClr val="EEEEF2"/>
          </a:solidFill>
          <a:ln/>
        </p:spPr>
      </p:sp>
      <p:sp>
        <p:nvSpPr>
          <p:cNvPr id="6" name="Text 2"/>
          <p:cNvSpPr txBox="1"/>
          <p:nvPr/>
        </p:nvSpPr>
        <p:spPr>
          <a:xfrm>
            <a:off x="6400800" y="1325880"/>
            <a:ext cx="2148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Por método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76 GET · 46 POST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22 PATCH · 15 DELETE · 2 PUT</a:t>
            </a:r>
            <a:endParaRPr lang="en-US" sz="14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Documentados</a:t>
            </a:r>
            <a:endParaRPr lang="en-US" sz="1400" dirty="0"/>
          </a:p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OpenAPI en /docs y catálogo completo en Catalogo_endpoints_API.xlsx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F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Modelo de datos multi-tenant</a:t>
            </a:r>
            <a:endParaRPr lang="en-US" sz="3000" dirty="0"/>
          </a:p>
        </p:txBody>
      </p:sp>
      <p:pic>
        <p:nvPicPr>
          <p:cNvPr id="3" name="motivo" descr="Motiv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384048"/>
            <a:ext cx="411480" cy="411480"/>
          </a:xfrm>
          <a:prstGeom prst="rect">
            <a:avLst/>
          </a:prstGeom>
        </p:spPr>
      </p:pic>
      <p:sp>
        <p:nvSpPr>
          <p:cNvPr id="4" name="marco-er"/>
          <p:cNvSpPr/>
          <p:nvPr/>
        </p:nvSpPr>
        <p:spPr>
          <a:xfrm>
            <a:off x="457200" y="1097280"/>
            <a:ext cx="3931920" cy="3611880"/>
          </a:xfrm>
          <a:prstGeom prst="roundRect">
            <a:avLst>
              <a:gd name="adj" fmla="val 2532"/>
            </a:avLst>
          </a:prstGeom>
          <a:solidFill>
            <a:srgbClr val="EEEEF2"/>
          </a:solidFill>
          <a:ln/>
        </p:spPr>
      </p:sp>
      <p:pic>
        <p:nvPicPr>
          <p:cNvPr id="5" name="er-contratos" descr="Diagrama ER del dominio contratos, personal y requisitos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94360" y="1188720"/>
            <a:ext cx="3657600" cy="342900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754880" y="1188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37 tablas en 4 dominios</a:t>
            </a:r>
            <a:endParaRPr lang="en-US" sz="1600" dirty="0"/>
          </a:p>
        </p:txBody>
      </p:sp>
      <p:sp>
        <p:nvSpPr>
          <p:cNvPr id="7" name="Text 3"/>
          <p:cNvSpPr txBox="1"/>
          <p:nvPr/>
        </p:nvSpPr>
        <p:spPr>
          <a:xfrm>
            <a:off x="4754880" y="1554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Empresas y usuarios · contratos y requisitos · documentos e IA · plataformas y bóveda JWE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4754880" y="2331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25 tablas con company_id</a:t>
            </a:r>
            <a:endParaRPr lang="en-US" sz="1600" dirty="0"/>
          </a:p>
        </p:txBody>
      </p:sp>
      <p:sp>
        <p:nvSpPr>
          <p:cNvPr id="9" name="Text 5"/>
          <p:cNvSpPr txBox="1"/>
          <p:nvPr/>
        </p:nvSpPr>
        <p:spPr>
          <a:xfrm>
            <a:off x="4754880" y="2697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Cada fila pertenece a una empresa y RLS filtra por app.company_id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4754880" y="347472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Evidencia entregada</a:t>
            </a:r>
            <a:endParaRPr lang="en-US" sz="1600" dirty="0"/>
          </a:p>
        </p:txBody>
      </p:sp>
      <p:sp>
        <p:nvSpPr>
          <p:cNvPr id="11" name="Text 7"/>
          <p:cNvSpPr txBox="1"/>
          <p:nvPr/>
        </p:nvSpPr>
        <p:spPr>
          <a:xfrm>
            <a:off x="4754880" y="38404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Diagramas ER por dominio y diccionario de datos con 395 columnas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F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La seguridad vive en el motor, no solo en la API</a:t>
            </a:r>
            <a:endParaRPr lang="en-US" sz="3000" dirty="0"/>
          </a:p>
        </p:txBody>
      </p:sp>
      <p:pic>
        <p:nvPicPr>
          <p:cNvPr id="3" name="motivo" descr="Motiv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384048"/>
            <a:ext cx="411480" cy="411480"/>
          </a:xfrm>
          <a:prstGeom prst="rect">
            <a:avLst/>
          </a:prstGeom>
        </p:spPr>
      </p:pic>
      <p:sp>
        <p:nvSpPr>
          <p:cNvPr id="4" name="seg-0"/>
          <p:cNvSpPr/>
          <p:nvPr/>
        </p:nvSpPr>
        <p:spPr>
          <a:xfrm>
            <a:off x="457200" y="123444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2A2A30"/>
          </a:solidFill>
          <a:ln/>
        </p:spPr>
      </p:sp>
      <p:sp>
        <p:nvSpPr>
          <p:cNvPr id="5" name="seg-circ-0"/>
          <p:cNvSpPr/>
          <p:nvPr/>
        </p:nvSpPr>
        <p:spPr>
          <a:xfrm>
            <a:off x="685800" y="1508760"/>
            <a:ext cx="640080" cy="640080"/>
          </a:xfrm>
          <a:prstGeom prst="ellipse">
            <a:avLst/>
          </a:prstGeom>
          <a:solidFill>
            <a:srgbClr val="5B5E73"/>
          </a:solidFill>
          <a:ln/>
        </p:spPr>
      </p:sp>
      <p:pic>
        <p:nvPicPr>
          <p:cNvPr id="6" name="seg-icon-0" descr="Row-Level Security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" y="1664208"/>
            <a:ext cx="329184" cy="329184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508760" y="1417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Row-Level Security</a:t>
            </a:r>
            <a:endParaRPr lang="en-US" sz="1600" dirty="0"/>
          </a:p>
        </p:txBody>
      </p:sp>
      <p:sp>
        <p:nvSpPr>
          <p:cNvPr id="8" name="Text 4"/>
          <p:cNvSpPr txBox="1"/>
          <p:nvPr/>
        </p:nvSpPr>
        <p:spPr>
          <a:xfrm>
            <a:off x="1508760" y="17830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Rol acredittia_app sin BYPASSRLS; contexto por transacción con set_config</a:t>
            </a:r>
            <a:endParaRPr lang="en-US" sz="1200" dirty="0"/>
          </a:p>
        </p:txBody>
      </p:sp>
      <p:sp>
        <p:nvSpPr>
          <p:cNvPr id="9" name="seg-1"/>
          <p:cNvSpPr/>
          <p:nvPr/>
        </p:nvSpPr>
        <p:spPr>
          <a:xfrm>
            <a:off x="4663440" y="123444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2A2A30"/>
          </a:solidFill>
          <a:ln/>
        </p:spPr>
      </p:sp>
      <p:sp>
        <p:nvSpPr>
          <p:cNvPr id="10" name="seg-circ-1"/>
          <p:cNvSpPr/>
          <p:nvPr/>
        </p:nvSpPr>
        <p:spPr>
          <a:xfrm>
            <a:off x="4892040" y="1508760"/>
            <a:ext cx="640080" cy="640080"/>
          </a:xfrm>
          <a:prstGeom prst="ellipse">
            <a:avLst/>
          </a:prstGeom>
          <a:solidFill>
            <a:srgbClr val="5B5E73"/>
          </a:solidFill>
          <a:ln/>
        </p:spPr>
      </p:sp>
      <p:pic>
        <p:nvPicPr>
          <p:cNvPr id="11" name="seg-icon-1" descr="Bóveda JW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7488" y="1664208"/>
            <a:ext cx="329184" cy="329184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5715000" y="141732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Bóveda JWE</a:t>
            </a:r>
            <a:endParaRPr lang="en-US" sz="1600" dirty="0"/>
          </a:p>
        </p:txBody>
      </p:sp>
      <p:sp>
        <p:nvSpPr>
          <p:cNvPr id="13" name="Text 8"/>
          <p:cNvSpPr txBox="1"/>
          <p:nvPr/>
        </p:nvSpPr>
        <p:spPr>
          <a:xfrm>
            <a:off x="5715000" y="17830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Credenciales del mandante cifradas con RSA-OAEP-256 + A256GCM; columna sin SELECT para la API</a:t>
            </a:r>
            <a:endParaRPr lang="en-US" sz="1200" dirty="0"/>
          </a:p>
        </p:txBody>
      </p:sp>
      <p:sp>
        <p:nvSpPr>
          <p:cNvPr id="14" name="seg-2"/>
          <p:cNvSpPr/>
          <p:nvPr/>
        </p:nvSpPr>
        <p:spPr>
          <a:xfrm>
            <a:off x="45720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2A2A30"/>
          </a:solidFill>
          <a:ln/>
        </p:spPr>
      </p:sp>
      <p:sp>
        <p:nvSpPr>
          <p:cNvPr id="15" name="seg-circ-2"/>
          <p:cNvSpPr/>
          <p:nvPr/>
        </p:nvSpPr>
        <p:spPr>
          <a:xfrm>
            <a:off x="685800" y="3200400"/>
            <a:ext cx="640080" cy="640080"/>
          </a:xfrm>
          <a:prstGeom prst="ellipse">
            <a:avLst/>
          </a:prstGeom>
          <a:solidFill>
            <a:srgbClr val="5B5E73"/>
          </a:solidFill>
          <a:ln/>
        </p:spPr>
      </p:sp>
      <p:pic>
        <p:nvPicPr>
          <p:cNvPr id="16" name="seg-icon-2" descr="Autenticació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248" y="3355848"/>
            <a:ext cx="329184" cy="32918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0876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Autenticación</a:t>
            </a:r>
            <a:endParaRPr lang="en-US" sz="1600" dirty="0"/>
          </a:p>
        </p:txBody>
      </p:sp>
      <p:sp>
        <p:nvSpPr>
          <p:cNvPr id="18" name="Text 12"/>
          <p:cNvSpPr txBox="1"/>
          <p:nvPr/>
        </p:nvSpPr>
        <p:spPr>
          <a:xfrm>
            <a:off x="1508760" y="34747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JWT con refresh tokens revocables y contraseñas con Argon2</a:t>
            </a:r>
            <a:endParaRPr lang="en-US" sz="1200" dirty="0"/>
          </a:p>
        </p:txBody>
      </p:sp>
      <p:sp>
        <p:nvSpPr>
          <p:cNvPr id="19" name="seg-3"/>
          <p:cNvSpPr/>
          <p:nvPr/>
        </p:nvSpPr>
        <p:spPr>
          <a:xfrm>
            <a:off x="4663440" y="2926080"/>
            <a:ext cx="4023360" cy="1463040"/>
          </a:xfrm>
          <a:prstGeom prst="roundRect">
            <a:avLst>
              <a:gd name="adj" fmla="val 6250"/>
            </a:avLst>
          </a:prstGeom>
          <a:solidFill>
            <a:srgbClr val="2A2A30"/>
          </a:solidFill>
          <a:ln/>
        </p:spPr>
      </p:sp>
      <p:sp>
        <p:nvSpPr>
          <p:cNvPr id="20" name="seg-circ-3"/>
          <p:cNvSpPr/>
          <p:nvPr/>
        </p:nvSpPr>
        <p:spPr>
          <a:xfrm>
            <a:off x="4892040" y="3200400"/>
            <a:ext cx="640080" cy="640080"/>
          </a:xfrm>
          <a:prstGeom prst="ellipse">
            <a:avLst/>
          </a:prstGeom>
          <a:solidFill>
            <a:srgbClr val="5B5E73"/>
          </a:solidFill>
          <a:ln/>
        </p:spPr>
      </p:sp>
      <p:pic>
        <p:nvPicPr>
          <p:cNvPr id="21" name="seg-icon-3" descr="Aislamiento probado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47488" y="3355848"/>
            <a:ext cx="329184" cy="329184"/>
          </a:xfrm>
          <a:prstGeom prst="rect">
            <a:avLst/>
          </a:prstGeom>
        </p:spPr>
      </p:pic>
      <p:sp>
        <p:nvSpPr>
          <p:cNvPr id="22" name="Text 15"/>
          <p:cNvSpPr txBox="1"/>
          <p:nvPr/>
        </p:nvSpPr>
        <p:spPr>
          <a:xfrm>
            <a:off x="571500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bg1"/>
                </a:solidFill>
              </a:rPr>
              <a:t>Aislamiento probado</a:t>
            </a:r>
            <a:endParaRPr lang="en-US" sz="1600" dirty="0"/>
          </a:p>
        </p:txBody>
      </p:sp>
      <p:sp>
        <p:nvSpPr>
          <p:cNvPr id="23" name="Text 16"/>
          <p:cNvSpPr txBox="1"/>
          <p:nvPr/>
        </p:nvSpPr>
        <p:spPr>
          <a:xfrm>
            <a:off x="5715000" y="34747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3"/>
                </a:solidFill>
              </a:rPr>
              <a:t>Pruebas que verifican que la empresa B no ve datos de la empresa A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F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Documentación de ingeniería completa</a:t>
            </a:r>
            <a:endParaRPr lang="en-US" sz="3000" dirty="0"/>
          </a:p>
        </p:txBody>
      </p:sp>
      <p:pic>
        <p:nvPicPr>
          <p:cNvPr id="3" name="motivo" descr="Motiv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384048"/>
            <a:ext cx="411480" cy="411480"/>
          </a:xfrm>
          <a:prstGeom prst="rect">
            <a:avLst/>
          </a:prstGeom>
        </p:spPr>
      </p:pic>
      <p:sp>
        <p:nvSpPr>
          <p:cNvPr id="4" name="uml-marco-0"/>
          <p:cNvSpPr/>
          <p:nvPr/>
        </p:nvSpPr>
        <p:spPr>
          <a:xfrm>
            <a:off x="457200" y="1097280"/>
            <a:ext cx="1600200" cy="2743200"/>
          </a:xfrm>
          <a:prstGeom prst="roundRect">
            <a:avLst>
              <a:gd name="adj" fmla="val 4571"/>
            </a:avLst>
          </a:prstGeom>
          <a:solidFill>
            <a:srgbClr val="EEEEF2"/>
          </a:solidFill>
          <a:ln/>
        </p:spPr>
      </p:sp>
      <p:pic>
        <p:nvPicPr>
          <p:cNvPr id="5" name="uml-0" descr="Diagrama de Casos de uso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48640" y="1188720"/>
            <a:ext cx="1417320" cy="2560320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457200" y="3931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Casos de uso</a:t>
            </a:r>
            <a:endParaRPr lang="en-US" sz="1300" dirty="0"/>
          </a:p>
        </p:txBody>
      </p:sp>
      <p:sp>
        <p:nvSpPr>
          <p:cNvPr id="7" name="uml-marco-1"/>
          <p:cNvSpPr/>
          <p:nvPr/>
        </p:nvSpPr>
        <p:spPr>
          <a:xfrm>
            <a:off x="2194560" y="1097280"/>
            <a:ext cx="1600200" cy="2743200"/>
          </a:xfrm>
          <a:prstGeom prst="roundRect">
            <a:avLst>
              <a:gd name="adj" fmla="val 4571"/>
            </a:avLst>
          </a:prstGeom>
          <a:solidFill>
            <a:srgbClr val="EEEEF2"/>
          </a:solidFill>
          <a:ln/>
        </p:spPr>
      </p:sp>
      <p:pic>
        <p:nvPicPr>
          <p:cNvPr id="8" name="uml-1" descr="Diagrama de Actividades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286000" y="1188720"/>
            <a:ext cx="1417320" cy="2560320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2194560" y="3931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Actividades</a:t>
            </a:r>
            <a:endParaRPr lang="en-US" sz="1300" dirty="0"/>
          </a:p>
        </p:txBody>
      </p:sp>
      <p:sp>
        <p:nvSpPr>
          <p:cNvPr id="10" name="uml-marco-2"/>
          <p:cNvSpPr/>
          <p:nvPr/>
        </p:nvSpPr>
        <p:spPr>
          <a:xfrm>
            <a:off x="3931920" y="1097280"/>
            <a:ext cx="1600200" cy="2743200"/>
          </a:xfrm>
          <a:prstGeom prst="roundRect">
            <a:avLst>
              <a:gd name="adj" fmla="val 4571"/>
            </a:avLst>
          </a:prstGeom>
          <a:solidFill>
            <a:srgbClr val="EEEEF2"/>
          </a:solidFill>
          <a:ln/>
        </p:spPr>
      </p:sp>
      <p:pic>
        <p:nvPicPr>
          <p:cNvPr id="11" name="uml-2" descr="Diagrama de Clases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023360" y="1188720"/>
            <a:ext cx="1417320" cy="2560320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3931920" y="393192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Clases</a:t>
            </a:r>
            <a:endParaRPr lang="en-US" sz="1300" dirty="0"/>
          </a:p>
        </p:txBody>
      </p:sp>
      <p:sp>
        <p:nvSpPr>
          <p:cNvPr id="13" name="Text 7"/>
          <p:cNvSpPr txBox="1"/>
          <p:nvPr/>
        </p:nvSpPr>
        <p:spPr>
          <a:xfrm>
            <a:off x="5852160" y="1097280"/>
            <a:ext cx="29260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Plan de Proyecto: EDT, Carta Gantt, roles y riesgos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Requerimientos bajo IEEE 29148 (RF, RNF y reglas de negocio)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Stakeholders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Diagramas UML de casos de uso, actividades y clases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Modelo ER y diccionario de datos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Catálogo de endpoints y código fuente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F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7498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Próximos pasos hacia la entrega final</a:t>
            </a:r>
            <a:endParaRPr lang="en-US" sz="3000" dirty="0"/>
          </a:p>
        </p:txBody>
      </p:sp>
      <p:pic>
        <p:nvPicPr>
          <p:cNvPr id="3" name="motivo" descr="Motivo decorativo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384048"/>
            <a:ext cx="411480" cy="4114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457200" y="118872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01</a:t>
            </a:r>
            <a:endParaRPr lang="en-US" sz="3000" dirty="0"/>
          </a:p>
        </p:txBody>
      </p:sp>
      <p:sp>
        <p:nvSpPr>
          <p:cNvPr id="5" name="Text 2"/>
          <p:cNvSpPr txBox="1"/>
          <p:nvPr/>
        </p:nvSpPr>
        <p:spPr>
          <a:xfrm>
            <a:off x="1280160" y="118872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Integraciones reales</a:t>
            </a:r>
            <a:endParaRPr lang="en-US" sz="1700" dirty="0"/>
          </a:p>
        </p:txBody>
      </p:sp>
      <p:sp>
        <p:nvSpPr>
          <p:cNvPr id="6" name="Text 3"/>
          <p:cNvSpPr txBox="1"/>
          <p:nvPr/>
        </p:nvSpPr>
        <p:spPr>
          <a:xfrm>
            <a:off x="3749040" y="118872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Guardar las credenciales en Key Vault y conectar SIGA como primer conector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05740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02</a:t>
            </a:r>
            <a:endParaRPr lang="en-US" sz="30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05740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Notificaciones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3749040" y="205740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Configurar SMTP para el correo de restablecimiento e invitaciones, y luego WhatsApp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92608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03</a:t>
            </a:r>
            <a:endParaRPr lang="en-US" sz="3000" dirty="0"/>
          </a:p>
        </p:txBody>
      </p:sp>
      <p:sp>
        <p:nvSpPr>
          <p:cNvPr id="11" name="Text 8"/>
          <p:cNvSpPr txBox="1"/>
          <p:nvPr/>
        </p:nvSpPr>
        <p:spPr>
          <a:xfrm>
            <a:off x="1280160" y="29260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Pagos</a:t>
            </a:r>
            <a:endParaRPr lang="en-US" sz="1700" dirty="0"/>
          </a:p>
        </p:txBody>
      </p:sp>
      <p:sp>
        <p:nvSpPr>
          <p:cNvPr id="12" name="Text 9"/>
          <p:cNvSpPr txBox="1"/>
          <p:nvPr/>
        </p:nvSpPr>
        <p:spPr>
          <a:xfrm>
            <a:off x="3749040" y="292608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Conectar la pasarela (Transbank o Stripe) al flujo de suscripción ya existente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3794760"/>
            <a:ext cx="731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chemeClr val="accent2"/>
                </a:solidFill>
              </a:rPr>
              <a:t>04</a:t>
            </a:r>
            <a:endParaRPr lang="en-US" sz="3000" dirty="0"/>
          </a:p>
        </p:txBody>
      </p:sp>
      <p:sp>
        <p:nvSpPr>
          <p:cNvPr id="14" name="Text 11"/>
          <p:cNvSpPr txBox="1"/>
          <p:nvPr/>
        </p:nvSpPr>
        <p:spPr>
          <a:xfrm>
            <a:off x="1280160" y="379476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Cierre técnico</a:t>
            </a:r>
            <a:endParaRPr lang="en-US" sz="1700" dirty="0"/>
          </a:p>
        </p:txBody>
      </p:sp>
      <p:sp>
        <p:nvSpPr>
          <p:cNvPr id="15" name="Text 12"/>
          <p:cNvSpPr txBox="1"/>
          <p:nvPr/>
        </p:nvSpPr>
        <p:spPr>
          <a:xfrm>
            <a:off x="3749040" y="3794760"/>
            <a:ext cx="4937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accent3"/>
                </a:solidFill>
              </a:rPr>
              <a:t>Subir los scripts SQL al repositorio, hacer pruebas de aceptación (UAT) y pasar a producción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8C8FA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credittia">
  <a:themeElements>
    <a:clrScheme name="Acredittia">
      <a:dk1>
        <a:srgbClr val="1C1C1F"/>
      </a:dk1>
      <a:lt1>
        <a:srgbClr val="FFFFFF"/>
      </a:lt1>
      <a:dk2>
        <a:srgbClr val="2A2A30"/>
      </a:dk2>
      <a:lt2>
        <a:srgbClr val="EEEEF2"/>
      </a:lt2>
      <a:accent1>
        <a:srgbClr val="5B5E73"/>
      </a:accent1>
      <a:accent2>
        <a:srgbClr val="8C8FA6"/>
      </a:accent2>
      <a:accent3>
        <a:srgbClr val="C9CBD8"/>
      </a:accent3>
      <a:accent4>
        <a:srgbClr val="3A3B47"/>
      </a:accent4>
      <a:accent5>
        <a:srgbClr val="7FB5A1"/>
      </a:accent5>
      <a:accent6>
        <a:srgbClr val="D9A15B"/>
      </a:accent6>
      <a:hlink>
        <a:srgbClr val="5B5E73"/>
      </a:hlink>
      <a:folHlink>
        <a:srgbClr val="8C8FA6"/>
      </a:folHlink>
    </a:clrScheme>
    <a:fontScheme name="Acredittia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Acredittia — Avance Fase 2</dc:title>
  <dc:subject>PptxGenJS Presentation</dc:subject>
  <dc:creator>Eduardo Agüero, Diego Santiagos, David Gana</dc:creator>
  <cp:lastModifiedBy>Eduardo Agüero, Diego Santiagos, David Gana</cp:lastModifiedBy>
  <cp:revision>1</cp:revision>
  <dcterms:created xsi:type="dcterms:W3CDTF">2026-10-29T18:56:01Z</dcterms:created>
  <dcterms:modified xsi:type="dcterms:W3CDTF">2026-10-29T18:56:01Z</dcterms:modified>
</cp:coreProperties>
</file>