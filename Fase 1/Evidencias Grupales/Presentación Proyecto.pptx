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elegraf" charset="1" panose="00000500000000000000"/>
      <p:regular r:id="rId18"/>
    </p:embeddedFont>
    <p:embeddedFont>
      <p:font typeface="Telegraf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pn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8677" y="3488736"/>
            <a:ext cx="14850646" cy="187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51"/>
              </a:lnSpc>
            </a:pPr>
            <a:r>
              <a:rPr lang="en-US" sz="120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Acredittia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730006" y="587517"/>
            <a:ext cx="1559988" cy="1559988"/>
          </a:xfrm>
          <a:custGeom>
            <a:avLst/>
            <a:gdLst/>
            <a:ahLst/>
            <a:cxnLst/>
            <a:rect r="r" b="b" t="t" l="l"/>
            <a:pathLst>
              <a:path h="1559988" w="1559988">
                <a:moveTo>
                  <a:pt x="0" y="0"/>
                </a:moveTo>
                <a:lnTo>
                  <a:pt x="1559988" y="0"/>
                </a:lnTo>
                <a:lnTo>
                  <a:pt x="1559988" y="1559988"/>
                </a:lnTo>
                <a:lnTo>
                  <a:pt x="0" y="1559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3036" y="5536561"/>
            <a:ext cx="1559988" cy="1559988"/>
          </a:xfrm>
          <a:custGeom>
            <a:avLst/>
            <a:gdLst/>
            <a:ahLst/>
            <a:cxnLst/>
            <a:rect r="r" b="b" t="t" l="l"/>
            <a:pathLst>
              <a:path h="1559988" w="1559988">
                <a:moveTo>
                  <a:pt x="0" y="0"/>
                </a:moveTo>
                <a:lnTo>
                  <a:pt x="1559988" y="0"/>
                </a:lnTo>
                <a:lnTo>
                  <a:pt x="1559988" y="1559987"/>
                </a:lnTo>
                <a:lnTo>
                  <a:pt x="0" y="15599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3685" y="1463894"/>
            <a:ext cx="960630" cy="960630"/>
          </a:xfrm>
          <a:custGeom>
            <a:avLst/>
            <a:gdLst/>
            <a:ahLst/>
            <a:cxnLst/>
            <a:rect r="r" b="b" t="t" l="l"/>
            <a:pathLst>
              <a:path h="960630" w="960630">
                <a:moveTo>
                  <a:pt x="0" y="0"/>
                </a:moveTo>
                <a:lnTo>
                  <a:pt x="960630" y="0"/>
                </a:lnTo>
                <a:lnTo>
                  <a:pt x="960630" y="960630"/>
                </a:lnTo>
                <a:lnTo>
                  <a:pt x="0" y="9606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593" y="8236458"/>
            <a:ext cx="4541310" cy="203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Integrantes: </a:t>
            </a:r>
          </a:p>
          <a:p>
            <a:pPr algn="l" marL="518160" indent="-259080" lvl="1">
              <a:lnSpc>
                <a:spcPts val="268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Eduardo Aguero</a:t>
            </a:r>
          </a:p>
          <a:p>
            <a:pPr algn="l" marL="518160" indent="-259080" lvl="1">
              <a:lnSpc>
                <a:spcPts val="268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Diego Santiagos</a:t>
            </a:r>
          </a:p>
          <a:p>
            <a:pPr algn="l" marL="518160" indent="-259080" lvl="1">
              <a:lnSpc>
                <a:spcPts val="2688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David Gana</a:t>
            </a:r>
          </a:p>
          <a:p>
            <a:pPr algn="l">
              <a:lnSpc>
                <a:spcPts val="2688"/>
              </a:lnSpc>
            </a:pPr>
          </a:p>
          <a:p>
            <a:pPr algn="l">
              <a:lnSpc>
                <a:spcPts val="268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3071" y="3765374"/>
            <a:ext cx="15104929" cy="6035157"/>
            <a:chOff x="0" y="0"/>
            <a:chExt cx="3978253" cy="1589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78253" cy="1589506"/>
            </a:xfrm>
            <a:custGeom>
              <a:avLst/>
              <a:gdLst/>
              <a:ahLst/>
              <a:cxnLst/>
              <a:rect r="r" b="b" t="t" l="l"/>
              <a:pathLst>
                <a:path h="1589506" w="3978253">
                  <a:moveTo>
                    <a:pt x="0" y="0"/>
                  </a:moveTo>
                  <a:lnTo>
                    <a:pt x="3978253" y="0"/>
                  </a:lnTo>
                  <a:lnTo>
                    <a:pt x="3978253" y="1589506"/>
                  </a:lnTo>
                  <a:lnTo>
                    <a:pt x="0" y="1589506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78253" cy="1684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7885" y="1000125"/>
            <a:ext cx="15716102" cy="110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1"/>
              </a:lnSpc>
            </a:pPr>
            <a:r>
              <a:rPr lang="en-US" sz="7081" b="true">
                <a:solidFill>
                  <a:srgbClr val="1D1D1B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Objetivo del negocio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85042" y="4323783"/>
            <a:ext cx="12347535" cy="464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6"/>
              </a:lnSpc>
            </a:pPr>
            <a:r>
              <a:rPr lang="en-US" sz="306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Acredittia es una plataforma SaaS de gestion de acreditaciones de contratistas,personal y equipoos para faenas mineras y energeticas en chile.</a:t>
            </a:r>
          </a:p>
          <a:p>
            <a:pPr algn="l">
              <a:lnSpc>
                <a:spcPts val="4596"/>
              </a:lnSpc>
            </a:pPr>
            <a:r>
              <a:rPr lang="en-US" sz="306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La empresa tiene como objetivo centralizar la gestion de la documentacion de estas empresas mediante cheklist documentales autogenerados, revision automatica de documentos con IA y alertas de vencimiento y sincronizacion con las plataformas del demandante.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79166" y="568758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70476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3071" y="3765374"/>
            <a:ext cx="15104929" cy="3168562"/>
            <a:chOff x="0" y="0"/>
            <a:chExt cx="3978253" cy="834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78253" cy="834518"/>
            </a:xfrm>
            <a:custGeom>
              <a:avLst/>
              <a:gdLst/>
              <a:ahLst/>
              <a:cxnLst/>
              <a:rect r="r" b="b" t="t" l="l"/>
              <a:pathLst>
                <a:path h="834518" w="3978253">
                  <a:moveTo>
                    <a:pt x="0" y="0"/>
                  </a:moveTo>
                  <a:lnTo>
                    <a:pt x="3978253" y="0"/>
                  </a:lnTo>
                  <a:lnTo>
                    <a:pt x="3978253" y="834518"/>
                  </a:lnTo>
                  <a:lnTo>
                    <a:pt x="0" y="834518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78253" cy="929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58742" y="4452739"/>
            <a:ext cx="3760267" cy="4517012"/>
            <a:chOff x="0" y="0"/>
            <a:chExt cx="1133146" cy="13611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3146" cy="1361189"/>
            </a:xfrm>
            <a:custGeom>
              <a:avLst/>
              <a:gdLst/>
              <a:ahLst/>
              <a:cxnLst/>
              <a:rect r="r" b="b" t="t" l="l"/>
              <a:pathLst>
                <a:path h="1361189" w="1133146">
                  <a:moveTo>
                    <a:pt x="0" y="0"/>
                  </a:moveTo>
                  <a:lnTo>
                    <a:pt x="1133146" y="0"/>
                  </a:lnTo>
                  <a:lnTo>
                    <a:pt x="1133146" y="1361189"/>
                  </a:lnTo>
                  <a:lnTo>
                    <a:pt x="0" y="1361189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133146" cy="1456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30750" y="4452739"/>
            <a:ext cx="3760267" cy="4517012"/>
            <a:chOff x="0" y="0"/>
            <a:chExt cx="1133146" cy="13611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3146" cy="1361189"/>
            </a:xfrm>
            <a:custGeom>
              <a:avLst/>
              <a:gdLst/>
              <a:ahLst/>
              <a:cxnLst/>
              <a:rect r="r" b="b" t="t" l="l"/>
              <a:pathLst>
                <a:path h="1361189" w="1133146">
                  <a:moveTo>
                    <a:pt x="0" y="0"/>
                  </a:moveTo>
                  <a:lnTo>
                    <a:pt x="1133146" y="0"/>
                  </a:lnTo>
                  <a:lnTo>
                    <a:pt x="1133146" y="1361189"/>
                  </a:lnTo>
                  <a:lnTo>
                    <a:pt x="0" y="1361189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133146" cy="1456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99033" y="4452739"/>
            <a:ext cx="3760267" cy="4517012"/>
            <a:chOff x="0" y="0"/>
            <a:chExt cx="1133146" cy="13611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3146" cy="1361189"/>
            </a:xfrm>
            <a:custGeom>
              <a:avLst/>
              <a:gdLst/>
              <a:ahLst/>
              <a:cxnLst/>
              <a:rect r="r" b="b" t="t" l="l"/>
              <a:pathLst>
                <a:path h="1361189" w="1133146">
                  <a:moveTo>
                    <a:pt x="0" y="0"/>
                  </a:moveTo>
                  <a:lnTo>
                    <a:pt x="1133146" y="0"/>
                  </a:lnTo>
                  <a:lnTo>
                    <a:pt x="1133146" y="1361189"/>
                  </a:lnTo>
                  <a:lnTo>
                    <a:pt x="0" y="1361189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133146" cy="1456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7885" y="1000125"/>
            <a:ext cx="13476413" cy="21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5"/>
              </a:lnSpc>
            </a:pPr>
            <a:r>
              <a:rPr lang="en-US" b="true" sz="7076">
                <a:solidFill>
                  <a:srgbClr val="1D1D1B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Contexto de la Empresa Acredittia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35379" y="5061199"/>
            <a:ext cx="2375147" cy="7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6"/>
              </a:lnSpc>
              <a:spcBef>
                <a:spcPct val="0"/>
              </a:spcBef>
            </a:pPr>
            <a:r>
              <a:rPr lang="en-US" b="true" sz="2308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Plataforma Especializada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7386" y="5061199"/>
            <a:ext cx="2375147" cy="747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0"/>
              </a:lnSpc>
              <a:spcBef>
                <a:spcPct val="0"/>
              </a:spcBef>
            </a:pPr>
            <a:r>
              <a:rPr lang="en-US" b="true" sz="229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Gestión de Requisitos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75669" y="5061199"/>
            <a:ext cx="2549933" cy="747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0"/>
              </a:lnSpc>
              <a:spcBef>
                <a:spcPct val="0"/>
              </a:spcBef>
            </a:pPr>
            <a:r>
              <a:rPr lang="en-US" b="true" sz="2296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Múltiples Usuarios y Roles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35379" y="6303917"/>
            <a:ext cx="2324374" cy="245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9"/>
              </a:lnSpc>
            </a:pPr>
            <a:r>
              <a:rPr lang="en-US" sz="173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Especializada en cumplimiento documental para empresas contratistas. tando de recursos humanos y/o maquinaria especializada.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07386" y="6303917"/>
            <a:ext cx="2324374" cy="153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9"/>
              </a:lnSpc>
            </a:pPr>
            <a:r>
              <a:rPr lang="en-US" sz="173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Facilita el registro, administración y monitoreo de requisitos documentales.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75669" y="6303917"/>
            <a:ext cx="2324374" cy="123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9"/>
              </a:lnSpc>
            </a:pPr>
            <a:r>
              <a:rPr lang="en-US" sz="1735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Soporte para múltiples usuarios con roles administrativos diferenciados.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774297" y="1164215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570476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3071" y="3765374"/>
            <a:ext cx="15104929" cy="3168562"/>
            <a:chOff x="0" y="0"/>
            <a:chExt cx="3978253" cy="834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78253" cy="834518"/>
            </a:xfrm>
            <a:custGeom>
              <a:avLst/>
              <a:gdLst/>
              <a:ahLst/>
              <a:cxnLst/>
              <a:rect r="r" b="b" t="t" l="l"/>
              <a:pathLst>
                <a:path h="834518" w="3978253">
                  <a:moveTo>
                    <a:pt x="0" y="0"/>
                  </a:moveTo>
                  <a:lnTo>
                    <a:pt x="3978253" y="0"/>
                  </a:lnTo>
                  <a:lnTo>
                    <a:pt x="3978253" y="834518"/>
                  </a:lnTo>
                  <a:lnTo>
                    <a:pt x="0" y="834518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78253" cy="929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58742" y="4452739"/>
            <a:ext cx="3760267" cy="4517012"/>
            <a:chOff x="0" y="0"/>
            <a:chExt cx="1133146" cy="13611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3146" cy="1361189"/>
            </a:xfrm>
            <a:custGeom>
              <a:avLst/>
              <a:gdLst/>
              <a:ahLst/>
              <a:cxnLst/>
              <a:rect r="r" b="b" t="t" l="l"/>
              <a:pathLst>
                <a:path h="1361189" w="1133146">
                  <a:moveTo>
                    <a:pt x="0" y="0"/>
                  </a:moveTo>
                  <a:lnTo>
                    <a:pt x="1133146" y="0"/>
                  </a:lnTo>
                  <a:lnTo>
                    <a:pt x="1133146" y="1361189"/>
                  </a:lnTo>
                  <a:lnTo>
                    <a:pt x="0" y="1361189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133146" cy="1456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30750" y="4452739"/>
            <a:ext cx="3760267" cy="4517012"/>
            <a:chOff x="0" y="0"/>
            <a:chExt cx="1133146" cy="13611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3146" cy="1361189"/>
            </a:xfrm>
            <a:custGeom>
              <a:avLst/>
              <a:gdLst/>
              <a:ahLst/>
              <a:cxnLst/>
              <a:rect r="r" b="b" t="t" l="l"/>
              <a:pathLst>
                <a:path h="1361189" w="1133146">
                  <a:moveTo>
                    <a:pt x="0" y="0"/>
                  </a:moveTo>
                  <a:lnTo>
                    <a:pt x="1133146" y="0"/>
                  </a:lnTo>
                  <a:lnTo>
                    <a:pt x="1133146" y="1361189"/>
                  </a:lnTo>
                  <a:lnTo>
                    <a:pt x="0" y="1361189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133146" cy="1456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99033" y="4452739"/>
            <a:ext cx="3760267" cy="4517012"/>
            <a:chOff x="0" y="0"/>
            <a:chExt cx="1133146" cy="13611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3146" cy="1361189"/>
            </a:xfrm>
            <a:custGeom>
              <a:avLst/>
              <a:gdLst/>
              <a:ahLst/>
              <a:cxnLst/>
              <a:rect r="r" b="b" t="t" l="l"/>
              <a:pathLst>
                <a:path h="1361189" w="1133146">
                  <a:moveTo>
                    <a:pt x="0" y="0"/>
                  </a:moveTo>
                  <a:lnTo>
                    <a:pt x="1133146" y="0"/>
                  </a:lnTo>
                  <a:lnTo>
                    <a:pt x="1133146" y="1361189"/>
                  </a:lnTo>
                  <a:lnTo>
                    <a:pt x="0" y="1361189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133146" cy="1456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7885" y="1000125"/>
            <a:ext cx="6229858" cy="21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5"/>
              </a:lnSpc>
            </a:pPr>
            <a:r>
              <a:rPr lang="en-US" b="true" sz="7076">
                <a:solidFill>
                  <a:srgbClr val="1D1D1B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Contexto del Problema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35379" y="4870699"/>
            <a:ext cx="2375147" cy="74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29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Volumen Documental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7386" y="4870699"/>
            <a:ext cx="2375147" cy="74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29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Errores y Retrasos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75669" y="4870699"/>
            <a:ext cx="1564349" cy="74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29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Seguimiento Manual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35379" y="5771129"/>
            <a:ext cx="2609546" cy="242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2"/>
              </a:lnSpc>
            </a:pPr>
            <a:r>
              <a:rPr lang="en-US" sz="194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Las empresas contratistas gestionan grandes volúmenes de documentos. La complejidad operativa dificulta el control y cumplimiento.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07386" y="5771129"/>
            <a:ext cx="2589343" cy="276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2"/>
              </a:lnSpc>
            </a:pPr>
            <a:r>
              <a:rPr lang="en-US" sz="194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Los procesos manuales generan errores frecuentes y retrasos en la revisión. Se requiere automatización para mayor precisión y eficiencia.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75669" y="5771129"/>
            <a:ext cx="2636103" cy="276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2"/>
              </a:lnSpc>
            </a:pPr>
            <a:r>
              <a:rPr lang="en-US" sz="194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Sin herramientas digitales, el seguimiento en tiempo real es imposible. La validación automática es clave para reducir riesgos de incumplimiento.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774297" y="1164215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570476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8677" y="3498261"/>
            <a:ext cx="14850646" cy="2623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24"/>
              </a:lnSpc>
            </a:pPr>
            <a:r>
              <a:rPr lang="en-US" sz="886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Desarrollo del  Backend para la Plataforma Acredittia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774297" y="1164215"/>
            <a:ext cx="1559988" cy="1559988"/>
          </a:xfrm>
          <a:custGeom>
            <a:avLst/>
            <a:gdLst/>
            <a:ahLst/>
            <a:cxnLst/>
            <a:rect r="r" b="b" t="t" l="l"/>
            <a:pathLst>
              <a:path h="1559988" w="1559988">
                <a:moveTo>
                  <a:pt x="0" y="0"/>
                </a:moveTo>
                <a:lnTo>
                  <a:pt x="1559988" y="0"/>
                </a:lnTo>
                <a:lnTo>
                  <a:pt x="1559988" y="1559988"/>
                </a:lnTo>
                <a:lnTo>
                  <a:pt x="0" y="1559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3715" y="7562797"/>
            <a:ext cx="1559988" cy="1559988"/>
          </a:xfrm>
          <a:custGeom>
            <a:avLst/>
            <a:gdLst/>
            <a:ahLst/>
            <a:cxnLst/>
            <a:rect r="r" b="b" t="t" l="l"/>
            <a:pathLst>
              <a:path h="1559988" w="1559988">
                <a:moveTo>
                  <a:pt x="0" y="0"/>
                </a:moveTo>
                <a:lnTo>
                  <a:pt x="1559988" y="0"/>
                </a:lnTo>
                <a:lnTo>
                  <a:pt x="1559988" y="1559988"/>
                </a:lnTo>
                <a:lnTo>
                  <a:pt x="0" y="1559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63685" y="1463894"/>
            <a:ext cx="960630" cy="960630"/>
          </a:xfrm>
          <a:custGeom>
            <a:avLst/>
            <a:gdLst/>
            <a:ahLst/>
            <a:cxnLst/>
            <a:rect r="r" b="b" t="t" l="l"/>
            <a:pathLst>
              <a:path h="960630" w="960630">
                <a:moveTo>
                  <a:pt x="0" y="0"/>
                </a:moveTo>
                <a:lnTo>
                  <a:pt x="960630" y="0"/>
                </a:lnTo>
                <a:lnTo>
                  <a:pt x="960630" y="960630"/>
                </a:lnTo>
                <a:lnTo>
                  <a:pt x="0" y="9606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7665" y="0"/>
            <a:ext cx="7600892" cy="10287000"/>
            <a:chOff x="0" y="0"/>
            <a:chExt cx="200188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188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01881">
                  <a:moveTo>
                    <a:pt x="0" y="0"/>
                  </a:moveTo>
                  <a:lnTo>
                    <a:pt x="2001881" y="0"/>
                  </a:lnTo>
                  <a:lnTo>
                    <a:pt x="200188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001881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2427" y="0"/>
            <a:ext cx="6524530" cy="10287000"/>
            <a:chOff x="0" y="0"/>
            <a:chExt cx="1010820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0820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10820">
                  <a:moveTo>
                    <a:pt x="0" y="0"/>
                  </a:moveTo>
                  <a:lnTo>
                    <a:pt x="1010820" y="0"/>
                  </a:lnTo>
                  <a:lnTo>
                    <a:pt x="101082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437" r="0" b="-43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353226" y="3565725"/>
            <a:ext cx="896054" cy="848516"/>
            <a:chOff x="0" y="0"/>
            <a:chExt cx="204686" cy="1938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353226" y="5594507"/>
            <a:ext cx="896054" cy="848516"/>
            <a:chOff x="0" y="0"/>
            <a:chExt cx="204686" cy="1938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53226" y="7623289"/>
            <a:ext cx="896054" cy="848516"/>
            <a:chOff x="0" y="0"/>
            <a:chExt cx="204686" cy="1938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14687" y="3779648"/>
            <a:ext cx="896054" cy="848516"/>
            <a:chOff x="0" y="0"/>
            <a:chExt cx="204686" cy="1938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14687" y="5808430"/>
            <a:ext cx="896054" cy="848516"/>
            <a:chOff x="0" y="0"/>
            <a:chExt cx="204686" cy="1938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614687" y="7837212"/>
            <a:ext cx="896054" cy="848516"/>
            <a:chOff x="0" y="0"/>
            <a:chExt cx="204686" cy="1938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342225" y="829546"/>
            <a:ext cx="7964633" cy="163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76"/>
              </a:lnSpc>
            </a:pPr>
            <a:r>
              <a:rPr lang="en-US" sz="551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Módulos Clave del Backend API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87607" y="3619409"/>
            <a:ext cx="7037131" cy="39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Módulo de Autenticación y Cuentas (/auth)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87607" y="5648191"/>
            <a:ext cx="7037131" cy="76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Módulo de Administración General de Tenants y Planes (/admin/companies, /admin/planes)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87607" y="7676973"/>
            <a:ext cx="7037131" cy="76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Módulo Operativo de Contratos, Dotación y Documentos (/contratos, /sujetos, /documentos)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07970" y="3911605"/>
            <a:ext cx="709488" cy="35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07970" y="5940387"/>
            <a:ext cx="709488" cy="35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07970" y="7969169"/>
            <a:ext cx="709488" cy="35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37362" y="4489411"/>
            <a:ext cx="6483024" cy="80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5"/>
              </a:lnSpc>
            </a:pPr>
            <a:r>
              <a:rPr lang="en-US" sz="1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Gestiona el acceso al sistema, la creación inicial de empresas y la emisión de tokens de sesión JWT con los roles de seguridad (admin, company, contract_admin).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37362" y="6514527"/>
            <a:ext cx="6483024" cy="80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5"/>
              </a:lnSpc>
            </a:pPr>
            <a:r>
              <a:rPr lang="en-US" sz="1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Permite al equipo interno aprobar empresas pendientes, modificar su industria (minería, construcción, etc.), configurar planes de suscripción y gestionar el cobro/facturación.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37362" y="8543309"/>
            <a:ext cx="6483024" cy="107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1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Es el núcleo diario del usuario contratista. Permite registrar trabajadores y vehículos/equipos, asociarlos a contratos, subir los archivos de respaldo y consultar expedientes y licencias internas (EMSIPOR).</a:t>
            </a:r>
          </a:p>
          <a:p>
            <a:pPr algn="l" marL="0" indent="0" lvl="0">
              <a:lnSpc>
                <a:spcPts val="2155"/>
              </a:lnSpc>
            </a:pP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6602999" y="2909424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76710" y="8520360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6290" y="0"/>
            <a:ext cx="7225961" cy="10287000"/>
            <a:chOff x="0" y="0"/>
            <a:chExt cx="190313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313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03134">
                  <a:moveTo>
                    <a:pt x="0" y="0"/>
                  </a:moveTo>
                  <a:lnTo>
                    <a:pt x="1903134" y="0"/>
                  </a:lnTo>
                  <a:lnTo>
                    <a:pt x="19031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903134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7005" y="0"/>
            <a:ext cx="6524530" cy="10287000"/>
            <a:chOff x="0" y="0"/>
            <a:chExt cx="1010820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0820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10820">
                  <a:moveTo>
                    <a:pt x="0" y="0"/>
                  </a:moveTo>
                  <a:lnTo>
                    <a:pt x="1010820" y="0"/>
                  </a:lnTo>
                  <a:lnTo>
                    <a:pt x="101082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437" r="0" b="-43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770850" y="820021"/>
            <a:ext cx="8144549" cy="189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2"/>
              </a:lnSpc>
            </a:pPr>
            <a:r>
              <a:rPr lang="en-US" sz="635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Módulos Clave del Backend API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602999" y="372399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5335" y="8520360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887789" y="3409861"/>
            <a:ext cx="896054" cy="848516"/>
            <a:chOff x="0" y="0"/>
            <a:chExt cx="204686" cy="1938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87789" y="5438643"/>
            <a:ext cx="896054" cy="848516"/>
            <a:chOff x="0" y="0"/>
            <a:chExt cx="204686" cy="1938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9250" y="3623784"/>
            <a:ext cx="896054" cy="848516"/>
            <a:chOff x="0" y="0"/>
            <a:chExt cx="204686" cy="1938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9250" y="5652566"/>
            <a:ext cx="896054" cy="848516"/>
            <a:chOff x="0" y="0"/>
            <a:chExt cx="204686" cy="1938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4686" cy="193826"/>
            </a:xfrm>
            <a:custGeom>
              <a:avLst/>
              <a:gdLst/>
              <a:ahLst/>
              <a:cxnLst/>
              <a:rect r="r" b="b" t="t" l="l"/>
              <a:pathLst>
                <a:path h="193826" w="204686">
                  <a:moveTo>
                    <a:pt x="0" y="0"/>
                  </a:moveTo>
                  <a:lnTo>
                    <a:pt x="204686" y="0"/>
                  </a:lnTo>
                  <a:lnTo>
                    <a:pt x="204686" y="193826"/>
                  </a:lnTo>
                  <a:lnTo>
                    <a:pt x="0" y="1938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204686" cy="2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22169" y="3463545"/>
            <a:ext cx="7037131" cy="76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Módulo de Integraciones, Plataformas y Credenciales (/plataformas)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22169" y="5492327"/>
            <a:ext cx="7037131" cy="76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Módulo de Consola Interna de Operaciones y Analítica (/admin/ops)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42533" y="3755741"/>
            <a:ext cx="709488" cy="35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2533" y="5784523"/>
            <a:ext cx="709488" cy="35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215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71925" y="4333547"/>
            <a:ext cx="6483024" cy="80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1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Administra la conexión con sistemas externos del mandante (como WebControl o SIGA) y gestiona la bóveda de claves cifradas de forma segura.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71925" y="6358662"/>
            <a:ext cx="6483024" cy="107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5"/>
              </a:lnSpc>
            </a:pPr>
            <a:r>
              <a:rPr lang="en-US" sz="153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El conjunto de 20 endpoints que diseñamos para la supervisión global del negocio SaaS: monitorea la salud de los contenedores y componentes, controla procesos automáticos, gestiona incidentes y calcula métricas financieras confidenciales.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00892" cy="10287000"/>
            <a:chOff x="0" y="0"/>
            <a:chExt cx="200188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188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01881">
                  <a:moveTo>
                    <a:pt x="0" y="0"/>
                  </a:moveTo>
                  <a:lnTo>
                    <a:pt x="2001881" y="0"/>
                  </a:lnTo>
                  <a:lnTo>
                    <a:pt x="200188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001881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5588" y="67206"/>
            <a:ext cx="6524530" cy="10287000"/>
            <a:chOff x="0" y="0"/>
            <a:chExt cx="1010820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0820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10820">
                  <a:moveTo>
                    <a:pt x="0" y="0"/>
                  </a:moveTo>
                  <a:lnTo>
                    <a:pt x="1010820" y="0"/>
                  </a:lnTo>
                  <a:lnTo>
                    <a:pt x="101082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437" r="0" b="-43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180485" y="640554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5335" y="8520360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67202" y="2592419"/>
            <a:ext cx="8469584" cy="7601452"/>
          </a:xfrm>
          <a:custGeom>
            <a:avLst/>
            <a:gdLst/>
            <a:ahLst/>
            <a:cxnLst/>
            <a:rect r="r" b="b" t="t" l="l"/>
            <a:pathLst>
              <a:path h="7601452" w="8469584">
                <a:moveTo>
                  <a:pt x="0" y="0"/>
                </a:moveTo>
                <a:lnTo>
                  <a:pt x="8469584" y="0"/>
                </a:lnTo>
                <a:lnTo>
                  <a:pt x="8469584" y="7601452"/>
                </a:lnTo>
                <a:lnTo>
                  <a:pt x="0" y="7601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67202" y="288025"/>
            <a:ext cx="7444855" cy="70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2"/>
              </a:lnSpc>
            </a:pPr>
            <a:r>
              <a:rPr lang="en-US" sz="462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funcionamiento Backkend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43564" y="1149666"/>
            <a:ext cx="6892132" cy="125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5"/>
              </a:lnSpc>
              <a:spcBef>
                <a:spcPct val="0"/>
              </a:spcBef>
            </a:pPr>
            <a:r>
              <a:rPr lang="en-US" sz="2636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Proceso paso a paso del funcionamiento por medio de un Diagrama de Arquitectura de Sistema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2181" y="372399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922" y="4296437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1"/>
                </a:lnTo>
                <a:lnTo>
                  <a:pt x="0" y="1312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38588" y="1852358"/>
            <a:ext cx="13520712" cy="8298337"/>
          </a:xfrm>
          <a:custGeom>
            <a:avLst/>
            <a:gdLst/>
            <a:ahLst/>
            <a:cxnLst/>
            <a:rect r="r" b="b" t="t" l="l"/>
            <a:pathLst>
              <a:path h="8298337" w="13520712">
                <a:moveTo>
                  <a:pt x="0" y="0"/>
                </a:moveTo>
                <a:lnTo>
                  <a:pt x="13520712" y="0"/>
                </a:lnTo>
                <a:lnTo>
                  <a:pt x="13520712" y="8298337"/>
                </a:lnTo>
                <a:lnTo>
                  <a:pt x="0" y="82983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5436" y="670403"/>
            <a:ext cx="7444855" cy="70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2"/>
              </a:lnSpc>
            </a:pPr>
            <a:r>
              <a:rPr lang="en-US" sz="462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funcionamiento Backkend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02553" y="2125397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6786" y="835142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81805" y="3967938"/>
            <a:ext cx="11521800" cy="5696090"/>
          </a:xfrm>
          <a:custGeom>
            <a:avLst/>
            <a:gdLst/>
            <a:ahLst/>
            <a:cxnLst/>
            <a:rect r="r" b="b" t="t" l="l"/>
            <a:pathLst>
              <a:path h="5696090" w="11521800">
                <a:moveTo>
                  <a:pt x="0" y="0"/>
                </a:moveTo>
                <a:lnTo>
                  <a:pt x="11521800" y="0"/>
                </a:lnTo>
                <a:lnTo>
                  <a:pt x="11521800" y="5696090"/>
                </a:lnTo>
                <a:lnTo>
                  <a:pt x="0" y="5696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576884"/>
            <a:ext cx="7444855" cy="70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2"/>
              </a:lnSpc>
            </a:pPr>
            <a:r>
              <a:rPr lang="en-US" sz="462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Diagramas Caso De Uso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6353977" cy="10287000"/>
            <a:chOff x="0" y="0"/>
            <a:chExt cx="1673475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347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73476">
                  <a:moveTo>
                    <a:pt x="0" y="0"/>
                  </a:moveTo>
                  <a:lnTo>
                    <a:pt x="1673476" y="0"/>
                  </a:lnTo>
                  <a:lnTo>
                    <a:pt x="16734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673475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9893" y="0"/>
            <a:ext cx="5454191" cy="10287000"/>
            <a:chOff x="0" y="0"/>
            <a:chExt cx="844997" cy="15937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4997" cy="1593725"/>
            </a:xfrm>
            <a:custGeom>
              <a:avLst/>
              <a:gdLst/>
              <a:ahLst/>
              <a:cxnLst/>
              <a:rect r="r" b="b" t="t" l="l"/>
              <a:pathLst>
                <a:path h="1593725" w="844997">
                  <a:moveTo>
                    <a:pt x="0" y="0"/>
                  </a:moveTo>
                  <a:lnTo>
                    <a:pt x="844997" y="0"/>
                  </a:lnTo>
                  <a:lnTo>
                    <a:pt x="84499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5"/>
              <a:stretch>
                <a:fillRect l="-118399" t="0" r="-118399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871921" y="8601999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1" y="0"/>
                </a:lnTo>
                <a:lnTo>
                  <a:pt x="1312601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29868" y="6583117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6786" y="835142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6353977" cy="10287000"/>
            <a:chOff x="0" y="0"/>
            <a:chExt cx="167347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347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73476">
                  <a:moveTo>
                    <a:pt x="0" y="0"/>
                  </a:moveTo>
                  <a:lnTo>
                    <a:pt x="1673476" y="0"/>
                  </a:lnTo>
                  <a:lnTo>
                    <a:pt x="16734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1673475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49893" y="0"/>
            <a:ext cx="5454191" cy="10287000"/>
            <a:chOff x="0" y="0"/>
            <a:chExt cx="844997" cy="1593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4997" cy="1593725"/>
            </a:xfrm>
            <a:custGeom>
              <a:avLst/>
              <a:gdLst/>
              <a:ahLst/>
              <a:cxnLst/>
              <a:rect r="r" b="b" t="t" l="l"/>
              <a:pathLst>
                <a:path h="1593725" w="844997">
                  <a:moveTo>
                    <a:pt x="0" y="0"/>
                  </a:moveTo>
                  <a:lnTo>
                    <a:pt x="844997" y="0"/>
                  </a:lnTo>
                  <a:lnTo>
                    <a:pt x="84499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116909" t="0" r="-116909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700470" y="2195975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46937" y="1871249"/>
            <a:ext cx="7949066" cy="8304073"/>
          </a:xfrm>
          <a:custGeom>
            <a:avLst/>
            <a:gdLst/>
            <a:ahLst/>
            <a:cxnLst/>
            <a:rect r="r" b="b" t="t" l="l"/>
            <a:pathLst>
              <a:path h="8304073" w="7949066">
                <a:moveTo>
                  <a:pt x="0" y="0"/>
                </a:moveTo>
                <a:lnTo>
                  <a:pt x="7949066" y="0"/>
                </a:lnTo>
                <a:lnTo>
                  <a:pt x="7949066" y="8304073"/>
                </a:lnTo>
                <a:lnTo>
                  <a:pt x="0" y="83040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0" y="576884"/>
            <a:ext cx="7444855" cy="70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2"/>
              </a:lnSpc>
            </a:pPr>
            <a:r>
              <a:rPr lang="en-US" sz="462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Diagramas Caso De Uso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3071" y="3765374"/>
            <a:ext cx="15104929" cy="5492926"/>
            <a:chOff x="0" y="0"/>
            <a:chExt cx="3978253" cy="1446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78253" cy="1446697"/>
            </a:xfrm>
            <a:custGeom>
              <a:avLst/>
              <a:gdLst/>
              <a:ahLst/>
              <a:cxnLst/>
              <a:rect r="r" b="b" t="t" l="l"/>
              <a:pathLst>
                <a:path h="1446697" w="3978253">
                  <a:moveTo>
                    <a:pt x="0" y="0"/>
                  </a:moveTo>
                  <a:lnTo>
                    <a:pt x="3978253" y="0"/>
                  </a:lnTo>
                  <a:lnTo>
                    <a:pt x="3978253" y="1446697"/>
                  </a:lnTo>
                  <a:lnTo>
                    <a:pt x="0" y="1446697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78253" cy="1541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6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7885" y="1000125"/>
            <a:ext cx="15716102" cy="110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5"/>
              </a:lnSpc>
            </a:pPr>
            <a:r>
              <a:rPr lang="en-US" b="true" sz="7076">
                <a:solidFill>
                  <a:srgbClr val="1D1D1B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Conclusión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379166" y="568758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570476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4542" y="4047558"/>
            <a:ext cx="12347535" cy="115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6"/>
              </a:lnSpc>
            </a:pPr>
            <a:r>
              <a:rPr lang="en-US" sz="306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partir de la información y los códigos recibidos, los objetivos para el proyecto a partir de este momento son los siguientes: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5769" y="5350996"/>
            <a:ext cx="13612148" cy="338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137" indent="-274569" lvl="1">
              <a:lnSpc>
                <a:spcPts val="3815"/>
              </a:lnSpc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Refinar la experiencia del usuario (UX) de acuerdo con la implementación final.</a:t>
            </a:r>
          </a:p>
          <a:p>
            <a:pPr algn="l" marL="549137" indent="-274569" lvl="1">
              <a:lnSpc>
                <a:spcPts val="3815"/>
              </a:lnSpc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Optimizar, depurar y garantizar la escalabilidad del código.</a:t>
            </a:r>
          </a:p>
          <a:p>
            <a:pPr algn="l" marL="549137" indent="-274569" lvl="1">
              <a:lnSpc>
                <a:spcPts val="3815"/>
              </a:lnSpc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Actualizar la documentación con la arquitectura técnica final y las decisiones de diseño.</a:t>
            </a:r>
          </a:p>
          <a:p>
            <a:pPr algn="l" marL="549137" indent="-274569" lvl="1">
              <a:lnSpc>
                <a:spcPts val="3815"/>
              </a:lnSpc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Documentar los nuevos endpoints, así como los parámetros de solicitud y las respuestas correspondientes.</a:t>
            </a:r>
          </a:p>
          <a:p>
            <a:pPr algn="l" marL="549137" indent="-274569" lvl="1">
              <a:lnSpc>
                <a:spcPts val="3815"/>
              </a:lnSpc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Gestionar los sprints y elaborar informes sobre el cumplimiento de los hitos.</a:t>
            </a:r>
          </a:p>
          <a:p>
            <a:pPr algn="l" marL="549137" indent="-274569" lvl="1">
              <a:lnSpc>
                <a:spcPts val="3815"/>
              </a:lnSpc>
              <a:buFont typeface="Arial"/>
              <a:buChar char="•"/>
            </a:pPr>
            <a:r>
              <a:rPr lang="en-US" sz="2543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Corregir los flujos, añadir capturas de pantalla y utilizar un lenguaje claro.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DAHUpiCO-1g</dc:identifier>
  <dcterms:modified xsi:type="dcterms:W3CDTF">2011-08-01T06:04:30Z</dcterms:modified>
  <cp:revision>1</cp:revision>
  <dc:title>plan de</dc:title>
</cp:coreProperties>
</file>